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4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7E975B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280160" y="4937760"/>
            <a:ext cx="3840480" cy="3840480"/>
          </a:xfrm>
          <a:prstGeom prst="ellipse">
            <a:avLst/>
          </a:prstGeom>
          <a:solidFill>
            <a:srgbClr val="F8AB2B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4173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GRUPO AMARANTE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1874520"/>
            <a:ext cx="9875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Novo fluxo de cadastro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 item e fornecedor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9776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D4B1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E1D4B1"/>
                </a:solidFill>
                <a:latin typeface="Montserrat"/>
                <a:ea typeface="Montserrat"/>
                <a:cs typeface="Montserrat"/>
                <a:sym typeface="Montserrat"/>
              </a:rPr>
              <a:t>Diagnóstico dos principais gargalos e proposta de melhoria dos processos de cadastro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822960" y="4709160"/>
            <a:ext cx="0" cy="0"/>
          </a:xfrm>
          <a:prstGeom prst="straightConnector1">
            <a:avLst/>
          </a:prstGeom>
          <a:noFill/>
          <a:ln cap="flat" cmpd="sng" w="12700">
            <a:solidFill>
              <a:srgbClr val="094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5B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7E975B"/>
                </a:solidFill>
                <a:latin typeface="Montserrat"/>
                <a:ea typeface="Montserrat"/>
                <a:cs typeface="Montserrat"/>
                <a:sym typeface="Montserrat"/>
              </a:rPr>
              <a:t>Compras &amp; Administrativo  · 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Principais gargalos e melhorias propostas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5B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7E975B"/>
                </a:solidFill>
                <a:latin typeface="Montserrat"/>
                <a:ea typeface="Montserrat"/>
                <a:cs typeface="Montserrat"/>
                <a:sym typeface="Montserrat"/>
              </a:rPr>
              <a:t>Cadastro de itens — do diagnóstico à 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94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78992" y="1508760"/>
            <a:ext cx="4636008" cy="1170432"/>
          </a:xfrm>
          <a:prstGeom prst="roundRect">
            <a:avLst>
              <a:gd fmla="val 6250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234440" y="1618488"/>
            <a:ext cx="43434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GARGALO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Verificação manual de duplicidade entre o item solicitado e itens já cadastrados.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852160" y="1965960"/>
            <a:ext cx="64008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629400" y="1508760"/>
            <a:ext cx="5029200" cy="1170432"/>
          </a:xfrm>
          <a:prstGeom prst="roundRect">
            <a:avLst>
              <a:gd fmla="val 625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830568" y="1618488"/>
            <a:ext cx="4626864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AÇÃO PROPOSTA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Lista suspensa já na primeira tela, sugerindo itens similares já existentes no cadastro.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2852928"/>
            <a:ext cx="384048" cy="384048"/>
          </a:xfrm>
          <a:prstGeom prst="ellipse">
            <a:avLst/>
          </a:prstGeom>
          <a:solidFill>
            <a:srgbClr val="094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8640" y="2852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78992" y="2807208"/>
            <a:ext cx="4636008" cy="1170432"/>
          </a:xfrm>
          <a:prstGeom prst="roundRect">
            <a:avLst>
              <a:gd fmla="val 6250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234440" y="2916936"/>
            <a:ext cx="43434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GARGALO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Atributos e finalidade do item não especificados, prejudicando a descrição e a classificação do NCM (ex.: tipo de material).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852160" y="3264408"/>
            <a:ext cx="64008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629400" y="2807208"/>
            <a:ext cx="5029200" cy="1170432"/>
          </a:xfrm>
          <a:prstGeom prst="roundRect">
            <a:avLst>
              <a:gd fmla="val 625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830568" y="2916936"/>
            <a:ext cx="4626864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AÇÃO PROPOSTA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Campos de atributos obrigatórios, definidos automaticamente de acordo com a família do item.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4151376"/>
            <a:ext cx="384048" cy="384048"/>
          </a:xfrm>
          <a:prstGeom prst="ellipse">
            <a:avLst/>
          </a:prstGeom>
          <a:solidFill>
            <a:srgbClr val="094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48640" y="4151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78992" y="4105656"/>
            <a:ext cx="4636008" cy="1170432"/>
          </a:xfrm>
          <a:prstGeom prst="roundRect">
            <a:avLst>
              <a:gd fmla="val 6250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234440" y="4215384"/>
            <a:ext cx="43434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GARGALO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Busca manual do NCM correto: processo lento e sujeito a erro.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852160" y="4562856"/>
            <a:ext cx="64008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629400" y="4105656"/>
            <a:ext cx="5029200" cy="1170432"/>
          </a:xfrm>
          <a:prstGeom prst="roundRect">
            <a:avLst>
              <a:gd fmla="val 625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830568" y="4215384"/>
            <a:ext cx="4626864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AÇÃO PROPOSTA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Busca assistida por IA, sem eliminar a etapa de conferência do administrativo.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5449824"/>
            <a:ext cx="384048" cy="384048"/>
          </a:xfrm>
          <a:prstGeom prst="ellipse">
            <a:avLst/>
          </a:prstGeom>
          <a:solidFill>
            <a:srgbClr val="094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8640" y="54498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78992" y="5404104"/>
            <a:ext cx="4636008" cy="1170432"/>
          </a:xfrm>
          <a:prstGeom prst="roundRect">
            <a:avLst>
              <a:gd fmla="val 6250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234440" y="5513832"/>
            <a:ext cx="43434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GARGALO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Solicitações incompletas retornam ao solicitante e ficam registradas como "questionário", virando pendência sem prazo.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852160" y="5861304"/>
            <a:ext cx="64008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629400" y="5404104"/>
            <a:ext cx="5029200" cy="1170432"/>
          </a:xfrm>
          <a:prstGeom prst="roundRect">
            <a:avLst>
              <a:gd fmla="val 625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830568" y="5513832"/>
            <a:ext cx="4626864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AÇÃO PROPOSTA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Solicitação incompleta deixa de ser contabilizada como cadastro; o sistema expira e elimina automaticamente os registros não finalizados.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Fluxo de cadastro de item — nova proposta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5B"/>
              </a:buClr>
              <a:buSzPts val="1150"/>
              <a:buFont typeface="Montserrat"/>
              <a:buNone/>
            </a:pPr>
            <a:r>
              <a:rPr b="0" i="1" lang="en-US" sz="1150" u="none" cap="none" strike="noStrike">
                <a:solidFill>
                  <a:srgbClr val="7E975B"/>
                </a:solidFill>
                <a:latin typeface="Montserrat"/>
                <a:ea typeface="Montserrat"/>
                <a:cs typeface="Montserrat"/>
                <a:sym typeface="Montserrat"/>
              </a:rPr>
              <a:t>Etapas em amarelo indicam melhoria proposta no novo fluxo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12070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5B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7E975B"/>
                </a:solidFill>
                <a:latin typeface="Montserrat"/>
                <a:ea typeface="Montserrat"/>
                <a:cs typeface="Montserrat"/>
                <a:sym typeface="Montserrat"/>
              </a:rPr>
              <a:t>SOLICITANTE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1572768"/>
            <a:ext cx="1417320" cy="1298448"/>
          </a:xfrm>
          <a:prstGeom prst="roundRect">
            <a:avLst>
              <a:gd fmla="val 5634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30936" y="1618488"/>
            <a:ext cx="12527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30936" y="1828800"/>
            <a:ext cx="1252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Insere a descrição do item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30936" y="2560320"/>
            <a:ext cx="1252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800"/>
              <a:buFont typeface="Montserrat"/>
              <a:buNone/>
            </a:pPr>
            <a:r>
              <a:rPr b="0" i="1" lang="en-US" sz="8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Lista automática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984248" y="2148840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148840" y="1572768"/>
            <a:ext cx="1417320" cy="1298448"/>
          </a:xfrm>
          <a:prstGeom prst="roundRect">
            <a:avLst>
              <a:gd fmla="val 5634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231136" y="1618488"/>
            <a:ext cx="12527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231136" y="1828800"/>
            <a:ext cx="12527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Verifica duplicidade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584448" y="2148840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749040" y="1572768"/>
            <a:ext cx="1417320" cy="1298448"/>
          </a:xfrm>
          <a:prstGeom prst="roundRect">
            <a:avLst>
              <a:gd fmla="val 5634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831336" y="1618488"/>
            <a:ext cx="12527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831336" y="1828800"/>
            <a:ext cx="12527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Seleciona a família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184648" y="2148840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349240" y="1572768"/>
            <a:ext cx="1417320" cy="1298448"/>
          </a:xfrm>
          <a:prstGeom prst="roundRect">
            <a:avLst>
              <a:gd fmla="val 5634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431536" y="1618488"/>
            <a:ext cx="12527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31536" y="1828800"/>
            <a:ext cx="1252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Preenche os atributos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31536" y="2560320"/>
            <a:ext cx="1252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800"/>
              <a:buFont typeface="Montserrat"/>
              <a:buNone/>
            </a:pPr>
            <a:r>
              <a:rPr b="0" i="1" lang="en-US" sz="8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Atributos via PDM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784848" y="2148840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949440" y="1572768"/>
            <a:ext cx="1417320" cy="1298448"/>
          </a:xfrm>
          <a:prstGeom prst="roundRect">
            <a:avLst>
              <a:gd fmla="val 5634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031736" y="1618488"/>
            <a:ext cx="12527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031736" y="1828800"/>
            <a:ext cx="1252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Descrição curta e longa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031736" y="2560320"/>
            <a:ext cx="1252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800"/>
              <a:buFont typeface="Montserrat"/>
              <a:buNone/>
            </a:pPr>
            <a:r>
              <a:rPr b="0" i="1" lang="en-US" sz="8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Exemplo no rodapé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385048" y="2148840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8549640" y="1572768"/>
            <a:ext cx="1417320" cy="1298448"/>
          </a:xfrm>
          <a:prstGeom prst="roundRect">
            <a:avLst>
              <a:gd fmla="val 5634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631936" y="1618488"/>
            <a:ext cx="12527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6-9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631936" y="1828800"/>
            <a:ext cx="1252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Dados complementares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631936" y="2560320"/>
            <a:ext cx="1252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800"/>
              <a:buFont typeface="Montserrat"/>
              <a:buNone/>
            </a:pPr>
            <a:r>
              <a:rPr b="0" i="1" lang="en-US" sz="8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Custo · unidade · fonte · ativo fixo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985248" y="2148840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0149840" y="1572768"/>
            <a:ext cx="1417320" cy="1298448"/>
          </a:xfrm>
          <a:prstGeom prst="roundRect">
            <a:avLst>
              <a:gd fmla="val 5634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10232136" y="1618488"/>
            <a:ext cx="12527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10-11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232136" y="1828800"/>
            <a:ext cx="1252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Dados importantes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232136" y="2560320"/>
            <a:ext cx="1252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800"/>
              <a:buFont typeface="Montserrat"/>
              <a:buNone/>
            </a:pPr>
            <a:r>
              <a:rPr b="0" i="1" lang="en-US" sz="8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Link do produto · finalidade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343400" y="30175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SISTEMA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720840" y="3017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5B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7E975B"/>
                </a:solidFill>
                <a:latin typeface="Montserrat"/>
                <a:ea typeface="Montserrat"/>
                <a:cs typeface="Montserrat"/>
                <a:sym typeface="Montserrat"/>
              </a:rPr>
              <a:t>SOLICITANTE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5"/>
          <p:cNvCxnSpPr/>
          <p:nvPr/>
        </p:nvCxnSpPr>
        <p:spPr>
          <a:xfrm>
            <a:off x="10858500" y="2871216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5"/>
          <p:cNvCxnSpPr/>
          <p:nvPr/>
        </p:nvCxnSpPr>
        <p:spPr>
          <a:xfrm>
            <a:off x="5394960" y="3090672"/>
            <a:ext cx="5463540" cy="0"/>
          </a:xfrm>
          <a:prstGeom prst="straightConnector1">
            <a:avLst/>
          </a:prstGeom>
          <a:noFill/>
          <a:ln cap="flat" cmpd="sng" w="19050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5"/>
          <p:cNvCxnSpPr/>
          <p:nvPr/>
        </p:nvCxnSpPr>
        <p:spPr>
          <a:xfrm>
            <a:off x="5394960" y="3090672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" name="Google Shape;103;p5"/>
          <p:cNvSpPr/>
          <p:nvPr/>
        </p:nvSpPr>
        <p:spPr>
          <a:xfrm>
            <a:off x="4343400" y="3310128"/>
            <a:ext cx="2103120" cy="1170432"/>
          </a:xfrm>
          <a:prstGeom prst="roundRect">
            <a:avLst>
              <a:gd fmla="val 6250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425696" y="335584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425696" y="3566160"/>
            <a:ext cx="19385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Classifica o NCM automaticamente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425696" y="4169664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800"/>
              <a:buFont typeface="Montserrat"/>
              <a:buNone/>
            </a:pPr>
            <a:r>
              <a:rPr b="0" i="1" lang="en-US" sz="8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Preenchimento por 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464808" y="3822192"/>
            <a:ext cx="23774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E97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720840" y="3310128"/>
            <a:ext cx="1463040" cy="1170432"/>
          </a:xfrm>
          <a:prstGeom prst="roundRect">
            <a:avLst>
              <a:gd fmla="val 6250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803136" y="3355848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803136" y="3566160"/>
            <a:ext cx="12984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Finaliza a solicitação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160520" y="46268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TIME ADM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7452360" y="4480560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094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5"/>
          <p:cNvCxnSpPr/>
          <p:nvPr/>
        </p:nvCxnSpPr>
        <p:spPr>
          <a:xfrm>
            <a:off x="5212080" y="4700016"/>
            <a:ext cx="2240280" cy="0"/>
          </a:xfrm>
          <a:prstGeom prst="straightConnector1">
            <a:avLst/>
          </a:prstGeom>
          <a:noFill/>
          <a:ln cap="flat" cmpd="sng" w="19050">
            <a:solidFill>
              <a:srgbClr val="094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5"/>
          <p:cNvCxnSpPr/>
          <p:nvPr/>
        </p:nvCxnSpPr>
        <p:spPr>
          <a:xfrm>
            <a:off x="5212080" y="4700016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5"/>
          <p:cNvSpPr/>
          <p:nvPr/>
        </p:nvSpPr>
        <p:spPr>
          <a:xfrm>
            <a:off x="4160520" y="4919472"/>
            <a:ext cx="2103120" cy="1051560"/>
          </a:xfrm>
          <a:prstGeom prst="roundRect">
            <a:avLst>
              <a:gd fmla="val 6957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242816" y="4965192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14-15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242816" y="5175504"/>
            <a:ext cx="193852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Confere dados e NCM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242816" y="5660136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800"/>
              <a:buFont typeface="Montserrat"/>
              <a:buNone/>
            </a:pPr>
            <a:r>
              <a:rPr b="0" i="1" lang="en-US" sz="8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Ajusta se necessário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281928" y="5372100"/>
            <a:ext cx="146304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94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446520" y="4919472"/>
            <a:ext cx="2103120" cy="1051560"/>
          </a:xfrm>
          <a:prstGeom prst="roundRect">
            <a:avLst>
              <a:gd fmla="val 6957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528816" y="4965192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528816" y="5175504"/>
            <a:ext cx="1938528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Finaliza — integração com o SAP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Fluxo de cadastro de fornecedor — entrada e triagem (1/2)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5B"/>
              </a:buClr>
              <a:buSzPts val="1150"/>
              <a:buFont typeface="Montserrat"/>
              <a:buNone/>
            </a:pPr>
            <a:r>
              <a:rPr b="0" i="1" lang="en-US" sz="1150" u="none" cap="none" strike="noStrike">
                <a:solidFill>
                  <a:srgbClr val="7E975B"/>
                </a:solidFill>
                <a:latin typeface="Montserrat"/>
                <a:ea typeface="Montserrat"/>
                <a:cs typeface="Montserrat"/>
                <a:sym typeface="Montserrat"/>
              </a:rPr>
              <a:t>CNPJ, CPF, órgão público e internacional seguem caminhos distintos desde a primeira tela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448556" y="1143000"/>
            <a:ext cx="3291840" cy="457200"/>
          </a:xfrm>
          <a:prstGeom prst="roundRect">
            <a:avLst>
              <a:gd fmla="val 1400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576572" y="1188720"/>
            <a:ext cx="303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Início — seleciona o tipo de fornecedor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14400" y="1874520"/>
            <a:ext cx="2377440" cy="457200"/>
          </a:xfrm>
          <a:prstGeom prst="roundRect">
            <a:avLst>
              <a:gd fmla="val 14000" name="adj"/>
            </a:avLst>
          </a:prstGeom>
          <a:solidFill>
            <a:srgbClr val="7E975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042416" y="1920240"/>
            <a:ext cx="21214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CNPJ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566160" y="1874520"/>
            <a:ext cx="2377440" cy="457200"/>
          </a:xfrm>
          <a:prstGeom prst="roundRect">
            <a:avLst>
              <a:gd fmla="val 14000" name="adj"/>
            </a:avLst>
          </a:prstGeom>
          <a:solidFill>
            <a:srgbClr val="7E975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694176" y="1920240"/>
            <a:ext cx="21214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CPF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17920" y="1874520"/>
            <a:ext cx="2377440" cy="457200"/>
          </a:xfrm>
          <a:prstGeom prst="roundRect">
            <a:avLst>
              <a:gd fmla="val 14000" name="adj"/>
            </a:avLst>
          </a:prstGeom>
          <a:solidFill>
            <a:srgbClr val="7E975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345936" y="1920240"/>
            <a:ext cx="21214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Órgão público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869680" y="1874520"/>
            <a:ext cx="2377440" cy="457200"/>
          </a:xfrm>
          <a:prstGeom prst="roundRect">
            <a:avLst>
              <a:gd fmla="val 14000" name="adj"/>
            </a:avLst>
          </a:prstGeom>
          <a:solidFill>
            <a:srgbClr val="7E975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997696" y="1920240"/>
            <a:ext cx="21214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Internacional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6094476" y="160020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6"/>
          <p:cNvCxnSpPr/>
          <p:nvPr/>
        </p:nvCxnSpPr>
        <p:spPr>
          <a:xfrm>
            <a:off x="2103120" y="1737360"/>
            <a:ext cx="3991356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6"/>
          <p:cNvCxnSpPr/>
          <p:nvPr/>
        </p:nvCxnSpPr>
        <p:spPr>
          <a:xfrm>
            <a:off x="2103120" y="173736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" name="Google Shape;143;p6"/>
          <p:cNvCxnSpPr/>
          <p:nvPr/>
        </p:nvCxnSpPr>
        <p:spPr>
          <a:xfrm>
            <a:off x="6094476" y="160020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6"/>
          <p:cNvCxnSpPr/>
          <p:nvPr/>
        </p:nvCxnSpPr>
        <p:spPr>
          <a:xfrm>
            <a:off x="4754880" y="1737360"/>
            <a:ext cx="1339596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6"/>
          <p:cNvCxnSpPr/>
          <p:nvPr/>
        </p:nvCxnSpPr>
        <p:spPr>
          <a:xfrm>
            <a:off x="4754880" y="173736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6"/>
          <p:cNvCxnSpPr/>
          <p:nvPr/>
        </p:nvCxnSpPr>
        <p:spPr>
          <a:xfrm>
            <a:off x="6094476" y="160020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6"/>
          <p:cNvCxnSpPr/>
          <p:nvPr/>
        </p:nvCxnSpPr>
        <p:spPr>
          <a:xfrm>
            <a:off x="6094476" y="1737360"/>
            <a:ext cx="1312164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>
            <a:off x="7406640" y="173736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6094476" y="160020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6"/>
          <p:cNvCxnSpPr/>
          <p:nvPr/>
        </p:nvCxnSpPr>
        <p:spPr>
          <a:xfrm>
            <a:off x="6094476" y="1737360"/>
            <a:ext cx="3963924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6"/>
          <p:cNvCxnSpPr/>
          <p:nvPr/>
        </p:nvCxnSpPr>
        <p:spPr>
          <a:xfrm>
            <a:off x="10058400" y="173736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6"/>
          <p:cNvSpPr/>
          <p:nvPr/>
        </p:nvSpPr>
        <p:spPr>
          <a:xfrm>
            <a:off x="914400" y="2514600"/>
            <a:ext cx="2377440" cy="502920"/>
          </a:xfrm>
          <a:prstGeom prst="roundRect">
            <a:avLst>
              <a:gd fmla="val 12727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042416" y="2560320"/>
            <a:ext cx="2121408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Consulta RFB / Sintegra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566160" y="2514600"/>
            <a:ext cx="2377440" cy="502920"/>
          </a:xfrm>
          <a:prstGeom prst="roundRect">
            <a:avLst>
              <a:gd fmla="val 12727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3694176" y="2560320"/>
            <a:ext cx="2121408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Preenche dados próprios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217920" y="2514600"/>
            <a:ext cx="2377440" cy="502920"/>
          </a:xfrm>
          <a:prstGeom prst="roundRect">
            <a:avLst>
              <a:gd fmla="val 12727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345936" y="2560320"/>
            <a:ext cx="2121408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Consulta RFB / Sintegra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869680" y="2514600"/>
            <a:ext cx="2377440" cy="502920"/>
          </a:xfrm>
          <a:prstGeom prst="roundRect">
            <a:avLst>
              <a:gd fmla="val 12727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997696" y="2560320"/>
            <a:ext cx="2121408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Preenche dados próprios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6"/>
          <p:cNvCxnSpPr/>
          <p:nvPr/>
        </p:nvCxnSpPr>
        <p:spPr>
          <a:xfrm>
            <a:off x="2103120" y="233172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" name="Google Shape;161;p6"/>
          <p:cNvCxnSpPr/>
          <p:nvPr/>
        </p:nvCxnSpPr>
        <p:spPr>
          <a:xfrm>
            <a:off x="4754880" y="233172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6"/>
          <p:cNvCxnSpPr/>
          <p:nvPr/>
        </p:nvCxnSpPr>
        <p:spPr>
          <a:xfrm>
            <a:off x="7406640" y="233172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6"/>
          <p:cNvCxnSpPr/>
          <p:nvPr/>
        </p:nvCxnSpPr>
        <p:spPr>
          <a:xfrm>
            <a:off x="10058400" y="233172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6"/>
          <p:cNvSpPr/>
          <p:nvPr/>
        </p:nvSpPr>
        <p:spPr>
          <a:xfrm>
            <a:off x="3168396" y="3246120"/>
            <a:ext cx="5852160" cy="548640"/>
          </a:xfrm>
          <a:prstGeom prst="roundRect">
            <a:avLst>
              <a:gd fmla="val 11667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296412" y="3291840"/>
            <a:ext cx="559612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Campos complementares obrigatórios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296412" y="3547872"/>
            <a:ext cx="5596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950"/>
              <a:buFont typeface="Montserrat"/>
              <a:buNone/>
            </a:pPr>
            <a:r>
              <a:rPr b="0" i="1" lang="en-US" sz="9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Resorts atendidos · valor do contrato · grupo de fornecimento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6"/>
          <p:cNvCxnSpPr/>
          <p:nvPr/>
        </p:nvCxnSpPr>
        <p:spPr>
          <a:xfrm>
            <a:off x="2103120" y="301752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6"/>
          <p:cNvCxnSpPr/>
          <p:nvPr/>
        </p:nvCxnSpPr>
        <p:spPr>
          <a:xfrm>
            <a:off x="2103120" y="3131820"/>
            <a:ext cx="3991356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6"/>
          <p:cNvCxnSpPr/>
          <p:nvPr/>
        </p:nvCxnSpPr>
        <p:spPr>
          <a:xfrm>
            <a:off x="6094476" y="313182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6"/>
          <p:cNvCxnSpPr/>
          <p:nvPr/>
        </p:nvCxnSpPr>
        <p:spPr>
          <a:xfrm>
            <a:off x="4754880" y="301752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6"/>
          <p:cNvCxnSpPr/>
          <p:nvPr/>
        </p:nvCxnSpPr>
        <p:spPr>
          <a:xfrm>
            <a:off x="4754880" y="3131820"/>
            <a:ext cx="1339596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6"/>
          <p:cNvCxnSpPr/>
          <p:nvPr/>
        </p:nvCxnSpPr>
        <p:spPr>
          <a:xfrm>
            <a:off x="6094476" y="313182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7406640" y="301752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6"/>
          <p:cNvCxnSpPr/>
          <p:nvPr/>
        </p:nvCxnSpPr>
        <p:spPr>
          <a:xfrm>
            <a:off x="6094476" y="3131820"/>
            <a:ext cx="1312164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6"/>
          <p:cNvCxnSpPr/>
          <p:nvPr/>
        </p:nvCxnSpPr>
        <p:spPr>
          <a:xfrm>
            <a:off x="6094476" y="313182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6"/>
          <p:cNvCxnSpPr/>
          <p:nvPr/>
        </p:nvCxnSpPr>
        <p:spPr>
          <a:xfrm>
            <a:off x="10058400" y="301752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6094476" y="3131820"/>
            <a:ext cx="3963924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6094476" y="313182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6"/>
          <p:cNvSpPr/>
          <p:nvPr/>
        </p:nvSpPr>
        <p:spPr>
          <a:xfrm>
            <a:off x="914400" y="4023360"/>
            <a:ext cx="2377440" cy="640080"/>
          </a:xfrm>
          <a:prstGeom prst="roundRect">
            <a:avLst>
              <a:gd fmla="val 10000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042416" y="4069080"/>
            <a:ext cx="2121408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Formulário ao fornecedor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042416" y="4375404"/>
            <a:ext cx="2121408" cy="24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900"/>
              <a:buFont typeface="Montserrat"/>
              <a:buNone/>
            </a:pPr>
            <a:r>
              <a:rPr b="0" i="1" lang="en-US" sz="9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Financeiro · compliance · ética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566160" y="4023360"/>
            <a:ext cx="2377440" cy="640080"/>
          </a:xfrm>
          <a:prstGeom prst="roundRect">
            <a:avLst>
              <a:gd fmla="val 10000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3694176" y="4069080"/>
            <a:ext cx="2121408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Formulário ao fornecedor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694176" y="4375404"/>
            <a:ext cx="2121408" cy="24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900"/>
              <a:buFont typeface="Montserrat"/>
              <a:buNone/>
            </a:pPr>
            <a:r>
              <a:rPr b="0" i="1" lang="en-US" sz="9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Financeiro · compliance · ética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217920" y="4023360"/>
            <a:ext cx="2377440" cy="640080"/>
          </a:xfrm>
          <a:prstGeom prst="roundRect">
            <a:avLst>
              <a:gd fmla="val 1000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345936" y="4069080"/>
            <a:ext cx="2121408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Direto ao administrativo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345936" y="4375404"/>
            <a:ext cx="2121408" cy="24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 formulário nem 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869680" y="4023360"/>
            <a:ext cx="2377440" cy="640080"/>
          </a:xfrm>
          <a:prstGeom prst="roundRect">
            <a:avLst>
              <a:gd fmla="val 1000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8997696" y="4069080"/>
            <a:ext cx="2121408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Direto à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997696" y="4375404"/>
            <a:ext cx="2121408" cy="24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900"/>
              <a:buFont typeface="Montserrat"/>
              <a:buNone/>
            </a:pPr>
            <a:r>
              <a:rPr b="0" i="1" lang="en-US" sz="90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Sem formulário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6"/>
          <p:cNvCxnSpPr/>
          <p:nvPr/>
        </p:nvCxnSpPr>
        <p:spPr>
          <a:xfrm>
            <a:off x="6094476" y="379476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6"/>
          <p:cNvCxnSpPr/>
          <p:nvPr/>
        </p:nvCxnSpPr>
        <p:spPr>
          <a:xfrm>
            <a:off x="2103120" y="3909060"/>
            <a:ext cx="3991356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6"/>
          <p:cNvCxnSpPr/>
          <p:nvPr/>
        </p:nvCxnSpPr>
        <p:spPr>
          <a:xfrm>
            <a:off x="2103120" y="390906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6"/>
          <p:cNvCxnSpPr/>
          <p:nvPr/>
        </p:nvCxnSpPr>
        <p:spPr>
          <a:xfrm>
            <a:off x="6094476" y="379476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6"/>
          <p:cNvCxnSpPr/>
          <p:nvPr/>
        </p:nvCxnSpPr>
        <p:spPr>
          <a:xfrm>
            <a:off x="4754880" y="3909060"/>
            <a:ext cx="1339596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6"/>
          <p:cNvCxnSpPr/>
          <p:nvPr/>
        </p:nvCxnSpPr>
        <p:spPr>
          <a:xfrm>
            <a:off x="4754880" y="390906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6"/>
          <p:cNvCxnSpPr/>
          <p:nvPr/>
        </p:nvCxnSpPr>
        <p:spPr>
          <a:xfrm>
            <a:off x="6094476" y="379476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6"/>
          <p:cNvCxnSpPr/>
          <p:nvPr/>
        </p:nvCxnSpPr>
        <p:spPr>
          <a:xfrm>
            <a:off x="6094476" y="3909060"/>
            <a:ext cx="1312164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6"/>
          <p:cNvCxnSpPr/>
          <p:nvPr/>
        </p:nvCxnSpPr>
        <p:spPr>
          <a:xfrm>
            <a:off x="7406640" y="390906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6"/>
          <p:cNvCxnSpPr/>
          <p:nvPr/>
        </p:nvCxnSpPr>
        <p:spPr>
          <a:xfrm>
            <a:off x="6094476" y="379476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/>
          <p:nvPr/>
        </p:nvCxnSpPr>
        <p:spPr>
          <a:xfrm>
            <a:off x="6094476" y="3909060"/>
            <a:ext cx="3963924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6"/>
          <p:cNvCxnSpPr/>
          <p:nvPr/>
        </p:nvCxnSpPr>
        <p:spPr>
          <a:xfrm>
            <a:off x="10058400" y="3909060"/>
            <a:ext cx="0" cy="11430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6"/>
          <p:cNvSpPr/>
          <p:nvPr/>
        </p:nvSpPr>
        <p:spPr>
          <a:xfrm>
            <a:off x="6217920" y="4846320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345936" y="4892040"/>
            <a:ext cx="2121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Conferência ADM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6"/>
          <p:cNvCxnSpPr/>
          <p:nvPr/>
        </p:nvCxnSpPr>
        <p:spPr>
          <a:xfrm>
            <a:off x="7406640" y="466344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" name="Google Shape;206;p6"/>
          <p:cNvSpPr/>
          <p:nvPr/>
        </p:nvSpPr>
        <p:spPr>
          <a:xfrm>
            <a:off x="6217920" y="5349240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345936" y="5394960"/>
            <a:ext cx="2121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Homologação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6"/>
          <p:cNvCxnSpPr/>
          <p:nvPr/>
        </p:nvCxnSpPr>
        <p:spPr>
          <a:xfrm>
            <a:off x="7406640" y="521208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6"/>
          <p:cNvSpPr/>
          <p:nvPr/>
        </p:nvSpPr>
        <p:spPr>
          <a:xfrm>
            <a:off x="6217920" y="5852160"/>
            <a:ext cx="2377440" cy="365760"/>
          </a:xfrm>
          <a:prstGeom prst="roundRect">
            <a:avLst>
              <a:gd fmla="val 17500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345936" y="5897880"/>
            <a:ext cx="2121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FIM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6"/>
          <p:cNvCxnSpPr/>
          <p:nvPr/>
        </p:nvCxnSpPr>
        <p:spPr>
          <a:xfrm>
            <a:off x="7406640" y="571500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Fluxo de cadastro de fornecedor — compliance e homologação (2/2)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48640" y="75895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75B"/>
              </a:buClr>
              <a:buSzPts val="1100"/>
              <a:buFont typeface="Montserrat"/>
              <a:buNone/>
            </a:pPr>
            <a:r>
              <a:rPr b="0" i="1" lang="en-US" sz="1100" u="none" cap="none" strike="noStrike">
                <a:solidFill>
                  <a:srgbClr val="7E975B"/>
                </a:solidFill>
                <a:latin typeface="Montserrat"/>
                <a:ea typeface="Montserrat"/>
                <a:cs typeface="Montserrat"/>
                <a:sym typeface="Montserrat"/>
              </a:rPr>
              <a:t>Válido para CNPJ, CPF e internacional — órgão público segue direto ao administrativo (parte 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828800" y="1097280"/>
            <a:ext cx="3840480" cy="457200"/>
          </a:xfrm>
          <a:prstGeom prst="roundRect">
            <a:avLst>
              <a:gd fmla="val 14000" name="adj"/>
            </a:avLst>
          </a:prstGeom>
          <a:solidFill>
            <a:srgbClr val="E1D4B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1956816" y="1143000"/>
            <a:ext cx="3584448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Formulário preenchido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1956816" y="1348740"/>
            <a:ext cx="358444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900"/>
              <a:buFont typeface="Montserrat"/>
              <a:buNone/>
            </a:pPr>
            <a:r>
              <a:rPr b="0" i="1" lang="en-US" sz="9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CNPJ e CPF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858000" y="1097280"/>
            <a:ext cx="2743200" cy="457200"/>
          </a:xfrm>
          <a:prstGeom prst="roundRect">
            <a:avLst>
              <a:gd fmla="val 1400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986016" y="1143000"/>
            <a:ext cx="2487168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Internacional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986016" y="1348740"/>
            <a:ext cx="248716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AB2B"/>
              </a:buClr>
              <a:buSzPts val="900"/>
              <a:buFont typeface="Montserrat"/>
              <a:buNone/>
            </a:pPr>
            <a:r>
              <a:rPr b="0" i="1" lang="en-US" sz="900" u="none" cap="none" strike="noStrike">
                <a:solidFill>
                  <a:srgbClr val="F8AB2B"/>
                </a:solidFill>
                <a:latin typeface="Montserrat"/>
                <a:ea typeface="Montserrat"/>
                <a:cs typeface="Montserrat"/>
                <a:sym typeface="Montserrat"/>
              </a:rPr>
              <a:t>Direto, sem formulário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265676" y="1719072"/>
            <a:ext cx="3657600" cy="411480"/>
          </a:xfrm>
          <a:prstGeom prst="roundRect">
            <a:avLst>
              <a:gd fmla="val 15556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393692" y="1764792"/>
            <a:ext cx="3401568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Análise de compliance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7"/>
          <p:cNvCxnSpPr/>
          <p:nvPr/>
        </p:nvCxnSpPr>
        <p:spPr>
          <a:xfrm>
            <a:off x="3749040" y="1554480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7"/>
          <p:cNvCxnSpPr/>
          <p:nvPr/>
        </p:nvCxnSpPr>
        <p:spPr>
          <a:xfrm>
            <a:off x="3749040" y="1636776"/>
            <a:ext cx="2345436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7"/>
          <p:cNvCxnSpPr/>
          <p:nvPr/>
        </p:nvCxnSpPr>
        <p:spPr>
          <a:xfrm>
            <a:off x="6094476" y="1636776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7"/>
          <p:cNvCxnSpPr/>
          <p:nvPr/>
        </p:nvCxnSpPr>
        <p:spPr>
          <a:xfrm>
            <a:off x="8229600" y="1554480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7"/>
          <p:cNvCxnSpPr/>
          <p:nvPr/>
        </p:nvCxnSpPr>
        <p:spPr>
          <a:xfrm>
            <a:off x="6094476" y="1636776"/>
            <a:ext cx="2135124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7"/>
          <p:cNvCxnSpPr/>
          <p:nvPr/>
        </p:nvCxnSpPr>
        <p:spPr>
          <a:xfrm>
            <a:off x="6094476" y="1636776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p7"/>
          <p:cNvSpPr/>
          <p:nvPr/>
        </p:nvSpPr>
        <p:spPr>
          <a:xfrm>
            <a:off x="1156716" y="2295144"/>
            <a:ext cx="3108960" cy="502920"/>
          </a:xfrm>
          <a:prstGeom prst="roundRect">
            <a:avLst>
              <a:gd fmla="val 12727" name="adj"/>
            </a:avLst>
          </a:prstGeom>
          <a:solidFill>
            <a:srgbClr val="7E975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1284732" y="2340864"/>
            <a:ext cx="2852928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Aprovado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39996" y="2295144"/>
            <a:ext cx="3108960" cy="502920"/>
          </a:xfrm>
          <a:prstGeom prst="roundRect">
            <a:avLst>
              <a:gd fmla="val 12727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668012" y="2340864"/>
            <a:ext cx="2852928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Questionado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923276" y="2295144"/>
            <a:ext cx="3108960" cy="502920"/>
          </a:xfrm>
          <a:prstGeom prst="roundRect">
            <a:avLst>
              <a:gd fmla="val 12727" name="adj"/>
            </a:avLst>
          </a:prstGeom>
          <a:solidFill>
            <a:srgbClr val="D9776F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8051292" y="2340864"/>
            <a:ext cx="2852928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Reprovado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7"/>
          <p:cNvCxnSpPr/>
          <p:nvPr/>
        </p:nvCxnSpPr>
        <p:spPr>
          <a:xfrm>
            <a:off x="6094476" y="2130552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>
            <a:off x="2711196" y="2212848"/>
            <a:ext cx="3383280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7"/>
          <p:cNvCxnSpPr/>
          <p:nvPr/>
        </p:nvCxnSpPr>
        <p:spPr>
          <a:xfrm>
            <a:off x="2711196" y="2212848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7"/>
          <p:cNvCxnSpPr/>
          <p:nvPr/>
        </p:nvCxnSpPr>
        <p:spPr>
          <a:xfrm>
            <a:off x="6094476" y="2130552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7"/>
          <p:cNvCxnSpPr/>
          <p:nvPr/>
        </p:nvCxnSpPr>
        <p:spPr>
          <a:xfrm>
            <a:off x="6094476" y="2212848"/>
            <a:ext cx="0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7"/>
          <p:cNvCxnSpPr/>
          <p:nvPr/>
        </p:nvCxnSpPr>
        <p:spPr>
          <a:xfrm>
            <a:off x="6094476" y="2212848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p7"/>
          <p:cNvCxnSpPr/>
          <p:nvPr/>
        </p:nvCxnSpPr>
        <p:spPr>
          <a:xfrm>
            <a:off x="6094476" y="2130552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7"/>
          <p:cNvCxnSpPr/>
          <p:nvPr/>
        </p:nvCxnSpPr>
        <p:spPr>
          <a:xfrm>
            <a:off x="6094476" y="2212848"/>
            <a:ext cx="3383280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7"/>
          <p:cNvCxnSpPr/>
          <p:nvPr/>
        </p:nvCxnSpPr>
        <p:spPr>
          <a:xfrm>
            <a:off x="9477756" y="2212848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p7"/>
          <p:cNvSpPr/>
          <p:nvPr/>
        </p:nvSpPr>
        <p:spPr>
          <a:xfrm>
            <a:off x="4539996" y="2962656"/>
            <a:ext cx="3108960" cy="457200"/>
          </a:xfrm>
          <a:prstGeom prst="roundRect">
            <a:avLst>
              <a:gd fmla="val 14000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4668012" y="3008376"/>
            <a:ext cx="2852928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Correções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668012" y="3214116"/>
            <a:ext cx="285292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900"/>
              <a:buFont typeface="Montserrat"/>
              <a:buNone/>
            </a:pPr>
            <a:r>
              <a:rPr b="0" i="1" lang="en-US" sz="9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↻ volta à análise de 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7923276" y="2962656"/>
            <a:ext cx="3108960" cy="457200"/>
          </a:xfrm>
          <a:prstGeom prst="roundRect">
            <a:avLst>
              <a:gd fmla="val 1400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8051292" y="3008376"/>
            <a:ext cx="2852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Diretoria decide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7"/>
          <p:cNvCxnSpPr/>
          <p:nvPr/>
        </p:nvCxnSpPr>
        <p:spPr>
          <a:xfrm>
            <a:off x="6094476" y="2798064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" name="Google Shape;254;p7"/>
          <p:cNvCxnSpPr/>
          <p:nvPr/>
        </p:nvCxnSpPr>
        <p:spPr>
          <a:xfrm>
            <a:off x="9477756" y="2798064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" name="Google Shape;255;p7"/>
          <p:cNvSpPr/>
          <p:nvPr/>
        </p:nvSpPr>
        <p:spPr>
          <a:xfrm>
            <a:off x="7923276" y="3557016"/>
            <a:ext cx="1463040" cy="365760"/>
          </a:xfrm>
          <a:prstGeom prst="roundRect">
            <a:avLst>
              <a:gd fmla="val 17500" name="adj"/>
            </a:avLst>
          </a:prstGeom>
          <a:solidFill>
            <a:srgbClr val="7E975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8051292" y="3602736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Autorizado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9569196" y="3557016"/>
            <a:ext cx="1463040" cy="365760"/>
          </a:xfrm>
          <a:prstGeom prst="roundRect">
            <a:avLst>
              <a:gd fmla="val 17500" name="adj"/>
            </a:avLst>
          </a:prstGeom>
          <a:solidFill>
            <a:srgbClr val="D9776F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9697212" y="3602736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Negado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7"/>
          <p:cNvCxnSpPr/>
          <p:nvPr/>
        </p:nvCxnSpPr>
        <p:spPr>
          <a:xfrm>
            <a:off x="9477756" y="3419856"/>
            <a:ext cx="0" cy="6858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7"/>
          <p:cNvCxnSpPr/>
          <p:nvPr/>
        </p:nvCxnSpPr>
        <p:spPr>
          <a:xfrm>
            <a:off x="8654796" y="3488436"/>
            <a:ext cx="822960" cy="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7"/>
          <p:cNvCxnSpPr/>
          <p:nvPr/>
        </p:nvCxnSpPr>
        <p:spPr>
          <a:xfrm>
            <a:off x="8654796" y="3488436"/>
            <a:ext cx="0" cy="6858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7"/>
          <p:cNvCxnSpPr/>
          <p:nvPr/>
        </p:nvCxnSpPr>
        <p:spPr>
          <a:xfrm>
            <a:off x="9477756" y="3419856"/>
            <a:ext cx="0" cy="6858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7"/>
          <p:cNvCxnSpPr/>
          <p:nvPr/>
        </p:nvCxnSpPr>
        <p:spPr>
          <a:xfrm>
            <a:off x="9477756" y="3488436"/>
            <a:ext cx="822960" cy="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10300716" y="3488436"/>
            <a:ext cx="0" cy="6858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7"/>
          <p:cNvSpPr/>
          <p:nvPr/>
        </p:nvSpPr>
        <p:spPr>
          <a:xfrm>
            <a:off x="3200400" y="4087368"/>
            <a:ext cx="3657600" cy="411480"/>
          </a:xfrm>
          <a:prstGeom prst="roundRect">
            <a:avLst>
              <a:gd fmla="val 15556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3328416" y="4133088"/>
            <a:ext cx="3401568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Administrativo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569196" y="4087368"/>
            <a:ext cx="1463040" cy="411480"/>
          </a:xfrm>
          <a:prstGeom prst="roundRect">
            <a:avLst>
              <a:gd fmla="val 15556" name="adj"/>
            </a:avLst>
          </a:prstGeom>
          <a:solidFill>
            <a:srgbClr val="D9776F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9697212" y="4133088"/>
            <a:ext cx="1207008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Cancelado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2711196" y="2798064"/>
            <a:ext cx="0" cy="644652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7"/>
          <p:cNvCxnSpPr/>
          <p:nvPr/>
        </p:nvCxnSpPr>
        <p:spPr>
          <a:xfrm>
            <a:off x="2711196" y="3442716"/>
            <a:ext cx="2318004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7"/>
          <p:cNvCxnSpPr/>
          <p:nvPr/>
        </p:nvCxnSpPr>
        <p:spPr>
          <a:xfrm>
            <a:off x="5029200" y="3442716"/>
            <a:ext cx="0" cy="644652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" name="Google Shape;272;p7"/>
          <p:cNvCxnSpPr/>
          <p:nvPr/>
        </p:nvCxnSpPr>
        <p:spPr>
          <a:xfrm>
            <a:off x="8654796" y="3922776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7"/>
          <p:cNvCxnSpPr/>
          <p:nvPr/>
        </p:nvCxnSpPr>
        <p:spPr>
          <a:xfrm>
            <a:off x="5029200" y="4005072"/>
            <a:ext cx="3625596" cy="0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7"/>
          <p:cNvCxnSpPr/>
          <p:nvPr/>
        </p:nvCxnSpPr>
        <p:spPr>
          <a:xfrm>
            <a:off x="5029200" y="4005072"/>
            <a:ext cx="0" cy="82296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7"/>
          <p:cNvCxnSpPr/>
          <p:nvPr/>
        </p:nvCxnSpPr>
        <p:spPr>
          <a:xfrm>
            <a:off x="10300716" y="3922776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" name="Google Shape;276;p7"/>
          <p:cNvSpPr/>
          <p:nvPr/>
        </p:nvSpPr>
        <p:spPr>
          <a:xfrm>
            <a:off x="3200400" y="4636008"/>
            <a:ext cx="3657600" cy="365760"/>
          </a:xfrm>
          <a:prstGeom prst="roundRect">
            <a:avLst>
              <a:gd fmla="val 17500" name="adj"/>
            </a:avLst>
          </a:prstGeom>
          <a:solidFill>
            <a:srgbClr val="094111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3328416" y="4681728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Conferência dos dados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7"/>
          <p:cNvCxnSpPr/>
          <p:nvPr/>
        </p:nvCxnSpPr>
        <p:spPr>
          <a:xfrm>
            <a:off x="5029200" y="4498848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p7"/>
          <p:cNvSpPr/>
          <p:nvPr/>
        </p:nvSpPr>
        <p:spPr>
          <a:xfrm>
            <a:off x="3200400" y="5111496"/>
            <a:ext cx="3657600" cy="365760"/>
          </a:xfrm>
          <a:prstGeom prst="roundRect">
            <a:avLst>
              <a:gd fmla="val 17500" name="adj"/>
            </a:avLst>
          </a:prstGeom>
          <a:solidFill>
            <a:srgbClr val="7E975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3328416" y="5157216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Homologação do cadastro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7"/>
          <p:cNvCxnSpPr/>
          <p:nvPr/>
        </p:nvCxnSpPr>
        <p:spPr>
          <a:xfrm>
            <a:off x="5029200" y="5001768"/>
            <a:ext cx="0" cy="109728"/>
          </a:xfrm>
          <a:prstGeom prst="straightConnector1">
            <a:avLst/>
          </a:prstGeom>
          <a:noFill/>
          <a:ln cap="flat" cmpd="sng" w="15875">
            <a:solidFill>
              <a:srgbClr val="094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" name="Google Shape;282;p7"/>
          <p:cNvSpPr/>
          <p:nvPr/>
        </p:nvSpPr>
        <p:spPr>
          <a:xfrm>
            <a:off x="4206240" y="5586984"/>
            <a:ext cx="1645920" cy="365760"/>
          </a:xfrm>
          <a:prstGeom prst="roundRect">
            <a:avLst>
              <a:gd fmla="val 17500" name="adj"/>
            </a:avLst>
          </a:prstGeom>
          <a:solidFill>
            <a:srgbClr val="F8AB2B"/>
          </a:solidFill>
          <a:ln>
            <a:noFill/>
          </a:ln>
          <a:effectLst>
            <a:outerShdw blurRad="76200" rotWithShape="0" algn="bl" dir="5400000" dist="25400">
              <a:srgbClr val="09411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4334256" y="5632704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94111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94111"/>
                </a:solidFill>
                <a:latin typeface="Montserrat"/>
                <a:ea typeface="Montserrat"/>
                <a:cs typeface="Montserrat"/>
                <a:sym typeface="Montserrat"/>
              </a:rPr>
              <a:t>FIM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7"/>
          <p:cNvCxnSpPr/>
          <p:nvPr/>
        </p:nvCxnSpPr>
        <p:spPr>
          <a:xfrm>
            <a:off x="5029200" y="5477256"/>
            <a:ext cx="0" cy="109728"/>
          </a:xfrm>
          <a:prstGeom prst="straightConnector1">
            <a:avLst/>
          </a:prstGeom>
          <a:noFill/>
          <a:ln cap="flat" cmpd="sng" w="15875">
            <a:solidFill>
              <a:srgbClr val="7E975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